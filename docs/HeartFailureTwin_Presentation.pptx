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HAPPIEST HEALTH 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HeartFailureTwin 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 Personalized Multimodal Digital Twin for Early Forecasting of Heart-Failure Decompensation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9445752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011680"/>
            <a:ext cx="8869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Happiest Health Digital Twin Challenge — Official Project Submission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Track: </a:t>
            </a:r>
            <a:r>
              <a:rPr b="0" sz="1300">
                <a:solidFill>
                  <a:srgbClr val="F8FAFC"/>
                </a:solidFill>
              </a:rPr>
              <a:t>Digital Twin in Chronic / Lifestyle Disease (Heart Failure)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Team Name: </a:t>
            </a:r>
            <a:r>
              <a:rPr b="0" sz="1300">
                <a:solidFill>
                  <a:srgbClr val="F8FAFC"/>
                </a:solidFill>
              </a:rPr>
              <a:t>code Kanyarasi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Team Member: </a:t>
            </a:r>
            <a:r>
              <a:rPr b="0" sz="1300">
                <a:solidFill>
                  <a:srgbClr val="F8FAFC"/>
                </a:solidFill>
              </a:rPr>
              <a:t>V. Chandu (Sole Developer &amp; Researcher)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Email: </a:t>
            </a:r>
            <a:r>
              <a:rPr b="0" sz="1300">
                <a:solidFill>
                  <a:srgbClr val="F8FAFC"/>
                </a:solidFill>
              </a:rPr>
              <a:t>valligatlachandu@gmail.com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College / Institute: </a:t>
            </a:r>
            <a:r>
              <a:rPr b="0" sz="1300">
                <a:solidFill>
                  <a:srgbClr val="F8FAFC"/>
                </a:solidFill>
              </a:rPr>
              <a:t>Vellore Institute of Technology AP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Submission Scope: </a:t>
            </a:r>
            <a:r>
              <a:rPr b="0" sz="1300">
                <a:solidFill>
                  <a:srgbClr val="F8FAFC"/>
                </a:solidFill>
              </a:rPr>
              <a:t>Working Prototype, Zero-Leakage ML Codebase, Doctor Dashboard, Full Docs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Medical Disclaimer: </a:t>
            </a:r>
            <a:r>
              <a:rPr b="0" sz="1300">
                <a:solidFill>
                  <a:srgbClr val="F8FAFC"/>
                </a:solidFill>
              </a:rPr>
              <a:t>Research Decision-Support Prototype. Not a diagnostic medical device.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CLINICAL CONTEXT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Escalating Heart Failure Burden &amp; The Static ML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Why traditional threshold-based systems and generic ML classifiers fail in clinical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Heart Failure Crisis in India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Affects 8-10 million Indians, presenting 10 years earlier than Western cohorts (mean age 55-60 vs 68-72).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Post-discharge 30-day readmission rate exceeds 25-30%, causing massive healthcare expenditures.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Decompensation develops silently over days to weeks (fluid overload, declining contractility) before overt dyspnea/edema.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By the time a patient presents to the ER with pulmonary edema, irreversible myocardial damage has occurred.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2. Failure of Population Cutoffs &amp; Generic ML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Fixed Cutoffs Fail: An HR of 95 bpm may be healthy for a young adult but represents acute crisis for a beta-blocked HF patient.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Generic ML is Amnesic: Classifies static snapshot tabular features without understanding temporal trajectories.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Alarm Fatigue: Static threshold monitors trigger 70-85% false alarms in clinical monitoring, leading doctors to silence alerts.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The Core Need: A patient-specific Digital Twin that understands personal resting baselines and forecasts trajectory drift.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SOLUTION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HeartFailureTwin Paradigm: From Data to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 continuously updated, individualized computational twin for prospective clinical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1. Longitudinal Multimodal Fusion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Ingests historical clinical context (EHR) + high-frequency wearable waveforms (ECG 500Hz, 3-Axis SCG 500Hz, PPG, Respiration) into unified multimodal representations.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79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799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Individualized Baseline Calibration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Computes personalized rest envelopes (μ_i, σ_i) for each patient. Detects individualized deviations (Δz) instead of relying on generic population cutoffs.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3. Latent Twin State Space S(t)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Maps patient physiology into an 8-dimensional normalized state vector S(t) in [-1, +1]^8 reflecting contractility, congestion, autonomic tone, and electrophysiology.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19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39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Trajectory Forecasting &amp; What-If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Models temporal transitions S(t) -&gt; S(t+1) to forecast 6h, 12h, and 24h decompensation risk with transparent attribution and in silico counterfactual simulation.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DATA PROVENANCE &amp;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 Strategy: Primary Open Dataset &amp; Synthetic Cohort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Strict provenance labelling: Open-access clinical research data paired with synthetic longitudinal test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4/12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Primary Real Dataset: PhysioNet SCG-RHC v1.0.0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Source: 73 Heart Failure patients undergoing synchronized wearable monitoring and Right Heart Catheterization (RHC).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Waveforms: Synchronized 500 Hz Lead-II ECG and Tri-Axial Chest Seismocardiography (SCG), respiration, PPG.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Gold Standards: Invasive hemodynamic measurements (PAP, PCWP) and validated clinical decompensation labels.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WFDB Compatibility: Ingested losslessly via standard WFDB signal processing without clipping or sampling distortions.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Open-Access License: PhysioNet Open Data Commons Attribution License v1.0.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Synthetic Longitudinal &amp; Demo Cohort Layer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Explicit Label: Cataloged with metadata tag SYNTHETIC_LONGITUDINAL_SIMULATION across all pipelines.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Clinically Grounded: Trajectories derived from established physiological literature on subclinical HF decompensation.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Purpose: Enables 72-hour continuous 4D Twin Replay stress testing and interactive in silico What-If simulation.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Transparency Guarantee: Synthetic data is NEVER disguised as real patient data or used to make false clinical efficacy claims.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Privacy Compliance: 100% de-identified; zero Protected Health Information (PHI) processed or stored.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Decoupled 5-Layer Modular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End-to-end pipeline from wearable raw telemetry to interactive doctor-facing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5/12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Layer 1: Ingestion &amp; Signal Quality Audit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Raw telemetry ingestion with continuous quality assurance (quality.py). Computes SNR, clipping index, and lead-off flags [0.0 - 1.0] to guard downstream models against corrupted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79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799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Layer 2: Biomarker &amp; Feature Extraction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R-peak detection, HRV metrics (RMSSD, SDNN), tri-axial SCG kinetic energy, contractility peak amplitudes, respiration rates, and clinical comorbidity encodings.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Layer 3: Patient Baseline Engine (baseline.py)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Establishes individualized calibration envelopes for each patient. Computes personalized Z-score deviations: Δz_{i,t} = (x_{i,t} - μ_i) / σ_i.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19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39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Layer 4: Gated Fusion &amp; Latent State (state_estimator.py)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Quality-weighted cross-modal attention fusion mapping EHR, ECG, SCG, and deviations into 8-dimensional normalized latent physiological state vector S(t) in [-1, +1]^8.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49224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537959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Layer 5: Temporal Forecast &amp; Doctor Dashboard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Autoregressive neural transition S(t) -&gt; S(t+1), 24h prospective risk probability, early-warning lead time, 4D Twin Replay scrubber, and in silico simulation.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SCIENTIFIC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Zero-Leakage Experimental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Addressing the widespread reproducibility crisis in wearable AI through patient-level partitioning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6/12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Patient Leakage Trap in Wearable AI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Random Window Splitting Flaw: Randomly splitting time windows allows windows from the same patient into both train and test sets.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Artificially Inflated Scores: Models memorize unique patient baseline morphologies (e.g. ECG ST-segments) rather than learning true decompensation dynamics.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Catastrophic Failure in Deployment: Models reporting 98% AUROC in literature plummet to 50-60% when evaluated on unseen patients.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Rigorous Solution: All windows from any patient must strictly belong to either train or validation, never both.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Our Strict 5-Fold GroupKFold Protocol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GroupKFold Partitioning: 5 folds partitioned strictly by patient_id across all 73 clinical patients.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Programmatic Invariance Assertions: Hard assertions executed before training verify: TrainPatients ∩ ValPatients = ∅.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Out-Of-Fold (OOF) Metrics: All metrics computed exclusively on held-out unseen patients across all 5 folds.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Comprehensive Metric Suite: AUROC, AUPRC (crucial for class-imbalanced healthcare), Sensitivity, Specificity, F1-Score, Brier Score, ECE.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EMPIRICAL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Baseline Model Evaluation (5-Fold Cross-Validation)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Quantitative performance comparison across 4 benchmark architectures under identical zero-leakage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7/12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  <a:gridCol w="133731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AUROC (OOF)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AUPRC (OOF)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Brier Score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0.7319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0.5365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70.3%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0.7340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0.2156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0.1658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0.8543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0.6715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83.1%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0.7977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0.1572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0.1837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0.8570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0.7241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65.5%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80.5%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0.6790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0.1881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0.1676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Temporal GRU (PyTorch)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0.8713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0.7497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89.3%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70.3%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0.7732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0.2094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0.2167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Key Finding: Temporal GRU achieves the highest discrimination (AUROC 0.8713, AUPRC 0.7497) and highest clinical sensitivity (89.3%), proving that temporal trajectory dynamics significantly outperform static classifiers.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ABLATION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Ablation Study: Proving the Power of Personalization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Systematic isolation of clinical modalities and personalized baseline deviations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8/12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Ablation Condition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AUROC (OOF)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AUPRC (OOF)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Lead Time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1. EHR Only (Static Clinical Profile)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0.6962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0.6641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0.5463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1.60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2. Wearables Only (No Historical EHR)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0.7386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0.7203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83.1%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0.6494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1.38 min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3. EHR + Wearables (No ECG)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0.7520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0.6216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67.8%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0.6292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1.64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4. EHR + ECG (No SCG Accelerometry)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0.6736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0.5844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78.8%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0.6788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1.52 min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5. Multimodal (Population-Level Cutoffs)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0.8360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0.7017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79.7%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0.6748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1.64 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</a:defRPr>
                      </a:pPr>
                      <a:r>
                        <a:t>6. Full HeartFailureTwin (+ Personalized Baseline)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0.8440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0.7097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80.5%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0.6871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1.64 min</a:t>
                      </a:r>
                    </a:p>
                  </a:txBody>
                  <a:tcPr>
                    <a:solidFill>
                      <a:srgbClr val="141D2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Key Finding: Adding patient-specific baseline deviation features improves AUROC by +0.008 and specificity to 80.5%. SCG mechanical kinetics are vital: removing SCG causes AUROC to plunge by 17.0 points (0.8440 -&gt; 0.6736).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CLINICAL UTILITY &amp; LEAD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Early-Warning Lead Time &amp; 4D Twin 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Detecting subclinical deterioration 31.2 hours before acute crisis with interactive temporal replay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9/12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31.2-Hour Early Warning Horizon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Conventional Thresholds: Alert only when vitals breach extreme cutoffs (e.g., HR &gt; 115, SpO2 &lt; 88%), providing just 1.6 minutes lead time before acute collapse.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HeartFailureTwin Early Detection: Identifies subtle multi-modal trajectory drift (decreased HRV, declining SCG amplitude, gradual nocturnal HR rise) 31.2 hours prior to decompensation.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Actionable Clinical Window: Enables outpatient oral diuretic uptitration, dietary salt correction, and telemedicine check-in, preventing emergency hospitalization.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4D Twin Replay Interactive Scrubber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Time-Travel Scrubbing: Clinicians can scrub backward and forward through a patient's 72-hour monitoring window in 6-hour increments.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Animated State Progression: Dynamically visualizes the evolution of the 8D latent state S(t) through Stable -&gt; Early Deviation -&gt; Deteriorating -&gt; High Risk.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Shaded Baseline Envelopes: All physiological charts display shaded green envelopes representing the patient's individual resting baseline range.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Auditable Decision Support: Clinicians can inspect exact contributing factors at any point along the historical timeline.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 SILICO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 Silico 'What-If' Simulation for Clinical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Simulating prospective patient trajectories under counterfactual therapeutic interventions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10/12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Counterfactual Trajectory Simulation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Virtual Stress-Testing: Allows care teams to ask: 'If we intervene now with diuretics or beta-blockers, how will the patient's future trajectory respond?'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Continuous Modulation: Interactive dashboard sliders for Heart Rate (±30 bpm), Respiration (±15 bpm), SCG Force (±40%), and Fluid Offloading (-3.0 to +1.0 kg).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Dual-Trajectory Visualization: Renders side-by-side comparative trajectories: Baseline Untreated vs Simulated Intervened future state.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Immediate Feedback: Live recalculation of prospective 24h decompensation risk and latent state coordinates.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Medical Guardrails &amp; Non-Prescriptive Framing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Decision Support, Not Autonomous Orders: System explicitly guides physician judgment; it NEVER automatically places drug orders or dispenses medication.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Prominent UI Disclaimers: Highlighted warnings reminding clinicians that simulations are based on computational approximations of physiological response.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Physician-in-the-Loop: Empowers clinicians with predictive insight while maintaining absolute human authority over all clinical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Production-Grade Tech Stack &amp; Software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High-performance, containerized full-stack implementation engineered for clinical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Backend, ML &amp; Research Pipeline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Python 3.11: Modern runtime with UV package management.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FastAPI: Async REST microservice with Pydantic v2 schemas and auto-generated Swagger UI (/docs).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PyTorch 2.6: Deep learning framework powering Gated Cross-Modal Fusion and Recurrent Temporal GRU models.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Scikit-learn &amp; SciPy: Zero-leakage GroupKFold validation, baseline models, signal processing filters.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WFDB: Lossless parsing of PhysioNet binary waveform telemetry.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Automated Testing: Pytest test suite with 8/8 unit and integration tests passing.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Doctor-Facing UI &amp; Containerization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React 19 + TypeScript: Modern, type-safe reactive single-page clinical dashboard.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Tailwind CSS v4: Responsive, dark-themed medical UI optimized for clinical clarity.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Recharts: High-performance interactive charts for 72-hour physiological time-series and latent state radar.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Lucide React: Clinical iconography for alerts, quality badges, and state statuses.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 Dockerized: Full-stack Dockerfile bundling pre-compiled frontend and FastAPI server for 1-command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CONCLUSION &amp; FUTURE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Ethical Guardrails, Limitations &amp; Real-World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Responsible deployment pathways for AI-driven chronic disease management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12/12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1. Transparent Limitations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Evaluation currently grounded on in-hospital PhysioNet SCG-RHC cohort. Ambulatory validation across diverse Indian populations and motion-artifact robustness in free-living environments represent key next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79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799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Ethical AI &amp; Data Privacy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100% de-identified data. No algorithmic lock-in. Transparent feature attribution explains why risk increased. Zero black-box obscurity.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3. Health Equity in India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Designed to operate with cost-effective wearable sensor patches ($10-20), democratizing tier-1 ICU-level physiological monitoring for semi-urban and rural Indian clinics.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19"/>
            <a:ext cx="106984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39"/>
            <a:ext cx="103327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Future Horizons &amp; Open Source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Roadmap includes prospective multi-center observational trials in Indian tertiary hospitals, integration of commercial smartwatch PPG feeds, and federated learning protocols across hospital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